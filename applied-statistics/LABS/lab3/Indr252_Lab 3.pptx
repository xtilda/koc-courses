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12" r:id="rId4"/>
  </p:sldMasterIdLst>
  <p:sldIdLst>
    <p:sldId id="257" r:id="rId5"/>
    <p:sldId id="267" r:id="rId6"/>
    <p:sldId id="268" r:id="rId7"/>
    <p:sldId id="269" r:id="rId8"/>
    <p:sldId id="270" r:id="rId9"/>
    <p:sldId id="271" r:id="rId10"/>
    <p:sldId id="272"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19" autoAdjust="0"/>
  </p:normalViewPr>
  <p:slideViewPr>
    <p:cSldViewPr snapToGrid="0">
      <p:cViewPr varScale="1">
        <p:scale>
          <a:sx n="127" d="100"/>
          <a:sy n="127" d="100"/>
        </p:scale>
        <p:origin x="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10/18/25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10/18/25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10/18/25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10/18/25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10/18/25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10/18/25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10/18/25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10/18/25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10/18/25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10/18/25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10/18/25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Indr252 – lab 3</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dirty="0"/>
              <a:t>Analyzing random samples</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489DC-19CA-41F8-8868-B13354DBE647}"/>
              </a:ext>
            </a:extLst>
          </p:cNvPr>
          <p:cNvSpPr>
            <a:spLocks noGrp="1"/>
          </p:cNvSpPr>
          <p:nvPr>
            <p:ph type="title"/>
          </p:nvPr>
        </p:nvSpPr>
        <p:spPr/>
        <p:txBody>
          <a:bodyPr/>
          <a:lstStyle/>
          <a:p>
            <a:r>
              <a:rPr lang="en-US" dirty="0"/>
              <a:t>Before we start</a:t>
            </a:r>
          </a:p>
        </p:txBody>
      </p:sp>
      <p:sp>
        <p:nvSpPr>
          <p:cNvPr id="3" name="Content Placeholder 2">
            <a:extLst>
              <a:ext uri="{FF2B5EF4-FFF2-40B4-BE49-F238E27FC236}">
                <a16:creationId xmlns:a16="http://schemas.microsoft.com/office/drawing/2014/main" id="{6BADF081-7935-440C-BEF9-5CFEDB05EACA}"/>
              </a:ext>
            </a:extLst>
          </p:cNvPr>
          <p:cNvSpPr>
            <a:spLocks noGrp="1"/>
          </p:cNvSpPr>
          <p:nvPr>
            <p:ph idx="1"/>
          </p:nvPr>
        </p:nvSpPr>
        <p:spPr>
          <a:xfrm>
            <a:off x="581192" y="2215299"/>
            <a:ext cx="11029615" cy="4194927"/>
          </a:xfrm>
        </p:spPr>
        <p:txBody>
          <a:bodyPr>
            <a:normAutofit/>
          </a:bodyPr>
          <a:lstStyle/>
          <a:p>
            <a:pPr>
              <a:spcBef>
                <a:spcPts val="0"/>
              </a:spcBef>
            </a:pPr>
            <a:r>
              <a:rPr lang="en-US" sz="2400" dirty="0">
                <a:sym typeface="Wingdings" panose="05000000000000000000" pitchFamily="2" charset="2"/>
              </a:rPr>
              <a:t>This is a simple example for a case. We will hold a case discussion in the lab next week.</a:t>
            </a:r>
          </a:p>
          <a:p>
            <a:pPr>
              <a:spcBef>
                <a:spcPts val="0"/>
              </a:spcBef>
            </a:pPr>
            <a:r>
              <a:rPr lang="en-US" sz="2400" dirty="0">
                <a:sym typeface="Wingdings" panose="05000000000000000000" pitchFamily="2" charset="2"/>
              </a:rPr>
              <a:t>Download the files from the Blackboard Indr252 LABA: </a:t>
            </a:r>
            <a:r>
              <a:rPr lang="en-US" sz="2400" dirty="0"/>
              <a:t>Assessments </a:t>
            </a:r>
            <a:r>
              <a:rPr lang="en-US" sz="2400" dirty="0">
                <a:sym typeface="Wingdings" panose="05000000000000000000" pitchFamily="2" charset="2"/>
              </a:rPr>
              <a:t> Lab 3 </a:t>
            </a:r>
          </a:p>
          <a:p>
            <a:pPr>
              <a:spcBef>
                <a:spcPts val="0"/>
              </a:spcBef>
            </a:pPr>
            <a:r>
              <a:rPr lang="en-US" sz="2400" dirty="0"/>
              <a:t>In this lab, you will:</a:t>
            </a:r>
          </a:p>
          <a:p>
            <a:pPr lvl="1">
              <a:spcBef>
                <a:spcPts val="0"/>
              </a:spcBef>
            </a:pPr>
            <a:r>
              <a:rPr lang="en-US" sz="2100" dirty="0"/>
              <a:t>Use the Python file to carry on the necessary analyses to answer the questions in </a:t>
            </a:r>
            <a:r>
              <a:rPr lang="fr-FR" sz="2100" dirty="0"/>
              <a:t>INDR 252_Lab 3 Instructions.docx file.</a:t>
            </a:r>
            <a:endParaRPr lang="en-US" sz="2100" dirty="0"/>
          </a:p>
          <a:p>
            <a:pPr lvl="1">
              <a:spcBef>
                <a:spcPts val="0"/>
              </a:spcBef>
            </a:pPr>
            <a:r>
              <a:rPr lang="en-US" sz="2100" dirty="0"/>
              <a:t>Write your answers to the questions in a word file named as &lt;your </a:t>
            </a:r>
            <a:r>
              <a:rPr lang="en-US" sz="2100" dirty="0" err="1"/>
              <a:t>lastname</a:t>
            </a:r>
            <a:r>
              <a:rPr lang="en-US" sz="2100" dirty="0"/>
              <a:t>&gt;.docx. </a:t>
            </a:r>
          </a:p>
          <a:p>
            <a:pPr lvl="1">
              <a:spcBef>
                <a:spcPts val="0"/>
              </a:spcBef>
            </a:pPr>
            <a:r>
              <a:rPr lang="en-US" sz="2100" dirty="0"/>
              <a:t>Upload </a:t>
            </a:r>
            <a:r>
              <a:rPr lang="en-US" sz="2100" b="1" dirty="0"/>
              <a:t>only the word file </a:t>
            </a:r>
            <a:r>
              <a:rPr lang="en-US" sz="2100" dirty="0"/>
              <a:t>for this assignment.</a:t>
            </a:r>
          </a:p>
          <a:p>
            <a:pPr lvl="1">
              <a:spcBef>
                <a:spcPts val="0"/>
              </a:spcBef>
            </a:pPr>
            <a:r>
              <a:rPr lang="en-US" sz="2100" dirty="0"/>
              <a:t>Note that these files will be graded. This is a good exercise towards case reporting.</a:t>
            </a:r>
          </a:p>
          <a:p>
            <a:pPr>
              <a:spcBef>
                <a:spcPts val="0"/>
              </a:spcBef>
            </a:pPr>
            <a:endParaRPr lang="en-US" sz="2400" dirty="0">
              <a:sym typeface="Wingdings" panose="05000000000000000000" pitchFamily="2" charset="2"/>
            </a:endParaRPr>
          </a:p>
        </p:txBody>
      </p:sp>
    </p:spTree>
    <p:extLst>
      <p:ext uri="{BB962C8B-B14F-4D97-AF65-F5344CB8AC3E}">
        <p14:creationId xmlns:p14="http://schemas.microsoft.com/office/powerpoint/2010/main" val="1520884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0E63-7C92-413D-B169-C59E9DADBCFB}"/>
              </a:ext>
            </a:extLst>
          </p:cNvPr>
          <p:cNvSpPr>
            <a:spLocks noGrp="1"/>
          </p:cNvSpPr>
          <p:nvPr>
            <p:ph type="title"/>
          </p:nvPr>
        </p:nvSpPr>
        <p:spPr/>
        <p:txBody>
          <a:bodyPr/>
          <a:lstStyle/>
          <a:p>
            <a:r>
              <a:rPr lang="en-US" dirty="0"/>
              <a:t>story</a:t>
            </a:r>
          </a:p>
        </p:txBody>
      </p:sp>
      <p:sp>
        <p:nvSpPr>
          <p:cNvPr id="3" name="Content Placeholder 2">
            <a:extLst>
              <a:ext uri="{FF2B5EF4-FFF2-40B4-BE49-F238E27FC236}">
                <a16:creationId xmlns:a16="http://schemas.microsoft.com/office/drawing/2014/main" id="{577AF960-2890-49B8-B521-8FCDE5E51C0B}"/>
              </a:ext>
            </a:extLst>
          </p:cNvPr>
          <p:cNvSpPr>
            <a:spLocks noGrp="1"/>
          </p:cNvSpPr>
          <p:nvPr>
            <p:ph idx="1"/>
          </p:nvPr>
        </p:nvSpPr>
        <p:spPr/>
        <p:txBody>
          <a:bodyPr>
            <a:normAutofit/>
          </a:bodyPr>
          <a:lstStyle/>
          <a:p>
            <a:r>
              <a:rPr lang="en-US" sz="2000" dirty="0">
                <a:effectLst/>
                <a:latin typeface="Calibri" panose="020F0502020204030204" pitchFamily="34" charset="0"/>
                <a:ea typeface="Times New Roman" panose="02020603050405020304" pitchFamily="18" charset="0"/>
                <a:cs typeface="Calibri" panose="020F0502020204030204" pitchFamily="34" charset="0"/>
              </a:rPr>
              <a:t>A friend of yours, who graduated in June 2017, started working in </a:t>
            </a:r>
            <a:r>
              <a:rPr lang="en-US" sz="2000" dirty="0" err="1">
                <a:effectLst/>
                <a:latin typeface="Calibri" panose="020F0502020204030204" pitchFamily="34" charset="0"/>
                <a:ea typeface="Times New Roman" panose="02020603050405020304" pitchFamily="18" charset="0"/>
                <a:cs typeface="Calibri" panose="020F0502020204030204" pitchFamily="34" charset="0"/>
              </a:rPr>
              <a:t>Maslak</a:t>
            </a:r>
            <a:r>
              <a:rPr lang="en-US" sz="2000" dirty="0">
                <a:effectLst/>
                <a:latin typeface="Calibri" panose="020F0502020204030204" pitchFamily="34" charset="0"/>
                <a:ea typeface="Times New Roman" panose="02020603050405020304" pitchFamily="18" charset="0"/>
                <a:cs typeface="Calibri" panose="020F0502020204030204" pitchFamily="34" charset="0"/>
              </a:rPr>
              <a:t>. He is considering to move in with one of his friends, who has already rented an apartment in </a:t>
            </a:r>
            <a:r>
              <a:rPr lang="en-US" sz="2000" dirty="0" err="1">
                <a:effectLst/>
                <a:latin typeface="Calibri" panose="020F0502020204030204" pitchFamily="34" charset="0"/>
                <a:ea typeface="Times New Roman" panose="02020603050405020304" pitchFamily="18" charset="0"/>
                <a:cs typeface="Calibri" panose="020F0502020204030204" pitchFamily="34" charset="0"/>
              </a:rPr>
              <a:t>Teşvikiye</a:t>
            </a:r>
            <a:r>
              <a:rPr lang="en-US" sz="2000" dirty="0">
                <a:effectLst/>
                <a:latin typeface="Calibri" panose="020F0502020204030204" pitchFamily="34" charset="0"/>
                <a:ea typeface="Times New Roman" panose="02020603050405020304" pitchFamily="18" charset="0"/>
                <a:cs typeface="Calibri" panose="020F0502020204030204" pitchFamily="34" charset="0"/>
              </a:rPr>
              <a:t>. In order to decide whether the commute between home and job will take a reasonable amount of time or not, he decided to stay with his friend for a number of days and measure how long it takes. He gives his measurements as well as several tables and plots he generated from the data below. He also included some additional information. After analyzing this data, he will decide whether to move or stay home. Your goal is to help him in the analyses.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p:txBody>
      </p:sp>
    </p:spTree>
    <p:extLst>
      <p:ext uri="{BB962C8B-B14F-4D97-AF65-F5344CB8AC3E}">
        <p14:creationId xmlns:p14="http://schemas.microsoft.com/office/powerpoint/2010/main" val="2423034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91710D0-9F9E-4E4C-86C1-30AE681F2AB2}"/>
              </a:ext>
            </a:extLst>
          </p:cNvPr>
          <p:cNvSpPr>
            <a:spLocks noGrp="1"/>
          </p:cNvSpPr>
          <p:nvPr>
            <p:ph type="title"/>
          </p:nvPr>
        </p:nvSpPr>
        <p:spPr>
          <a:xfrm>
            <a:off x="609906" y="702155"/>
            <a:ext cx="3568661" cy="1269713"/>
          </a:xfrm>
        </p:spPr>
        <p:txBody>
          <a:bodyPr>
            <a:normAutofit/>
          </a:bodyPr>
          <a:lstStyle/>
          <a:p>
            <a:r>
              <a:rPr lang="en-US" dirty="0"/>
              <a:t>Data &amp; more info</a:t>
            </a:r>
          </a:p>
        </p:txBody>
      </p:sp>
      <p:sp>
        <p:nvSpPr>
          <p:cNvPr id="11" name="Rectangle 10">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702EC91-8474-4B89-A8CC-6B527EB5CCDF}"/>
              </a:ext>
            </a:extLst>
          </p:cNvPr>
          <p:cNvSpPr>
            <a:spLocks noGrp="1"/>
          </p:cNvSpPr>
          <p:nvPr>
            <p:ph idx="1"/>
          </p:nvPr>
        </p:nvSpPr>
        <p:spPr>
          <a:xfrm>
            <a:off x="427032" y="2309567"/>
            <a:ext cx="4429454" cy="3998942"/>
          </a:xfrm>
        </p:spPr>
        <p:txBody>
          <a:bodyPr>
            <a:noAutofit/>
          </a:bodyPr>
          <a:lstStyle/>
          <a:p>
            <a:pPr marL="0" marR="36830" indent="0">
              <a:lnSpc>
                <a:spcPct val="100000"/>
              </a:lnSpc>
              <a:spcBef>
                <a:spcPts val="600"/>
              </a:spcBef>
              <a:spcAft>
                <a:spcPts val="600"/>
              </a:spcAft>
              <a:buNone/>
            </a:pPr>
            <a:r>
              <a:rPr lang="en-US" sz="1600" b="1" dirty="0" err="1">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İstanbul'da</a:t>
            </a:r>
            <a:r>
              <a:rPr lang="en-US" sz="1600" b="1" dirty="0">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 </a:t>
            </a:r>
            <a:r>
              <a:rPr lang="en-US" sz="1600" b="1" dirty="0" err="1">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bazı</a:t>
            </a:r>
            <a:r>
              <a:rPr lang="en-US" sz="1600" b="1" dirty="0">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 </a:t>
            </a:r>
            <a:r>
              <a:rPr lang="en-US" sz="1600" b="1" dirty="0" err="1">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yollar</a:t>
            </a:r>
            <a:r>
              <a:rPr lang="en-US" sz="1600" b="1" dirty="0">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 </a:t>
            </a:r>
            <a:r>
              <a:rPr lang="en-US" sz="1600" b="1" dirty="0" err="1">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trafiğe</a:t>
            </a:r>
            <a:r>
              <a:rPr lang="en-US" sz="1600" b="1" dirty="0">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 </a:t>
            </a:r>
            <a:r>
              <a:rPr lang="en-US" sz="1600" b="1" dirty="0" err="1">
                <a:solidFill>
                  <a:schemeClr val="bg2"/>
                </a:solidFill>
                <a:effectLst/>
                <a:highlight>
                  <a:srgbClr val="8B0000"/>
                </a:highlight>
                <a:latin typeface="Trebuchet MS" panose="020B0603020202020204" pitchFamily="34" charset="0"/>
                <a:ea typeface="Times New Roman" panose="02020603050405020304" pitchFamily="18" charset="0"/>
                <a:cs typeface="Times New Roman" panose="02020603050405020304" pitchFamily="18" charset="0"/>
              </a:rPr>
              <a:t>kapatılacak</a:t>
            </a:r>
            <a:endParaRPr lang="en-US" sz="16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0" marR="36830" indent="0">
              <a:lnSpc>
                <a:spcPct val="100000"/>
              </a:lnSpc>
              <a:spcBef>
                <a:spcPts val="600"/>
              </a:spcBef>
              <a:spcAft>
                <a:spcPts val="0"/>
              </a:spcAft>
              <a:buNone/>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13-15 Ara</a:t>
            </a:r>
            <a:r>
              <a:rPr lang="tr-TR" sz="1600" b="1" dirty="0" err="1">
                <a:effectLst/>
                <a:latin typeface="Times New Roman" panose="02020603050405020304" pitchFamily="18" charset="0"/>
                <a:ea typeface="Times New Roman" panose="02020603050405020304" pitchFamily="18" charset="0"/>
                <a:cs typeface="Times New Roman" panose="02020603050405020304" pitchFamily="18" charset="0"/>
              </a:rPr>
              <a:t>lık</a:t>
            </a:r>
            <a:r>
              <a:rPr lang="tr-TR" sz="1600" b="1" dirty="0">
                <a:effectLst/>
                <a:latin typeface="Times New Roman" panose="02020603050405020304" pitchFamily="18" charset="0"/>
                <a:ea typeface="Times New Roman" panose="02020603050405020304" pitchFamily="18" charset="0"/>
                <a:cs typeface="Times New Roman" panose="02020603050405020304" pitchFamily="18" charset="0"/>
              </a:rPr>
              <a:t> 2017 tarihlerinde gerçekleşecek olan İslam İşbirliği Teşkilatı (İİT) Olağanüstü Zirvesi nedeniyle bazı yollar trafiğe kapatılacak. Her gün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sabah</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saat</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07.00’den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toplantı</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sona</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erene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kadar</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Küçükçiftlik</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girişi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Mim</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Kemal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Öke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Teşvikiye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dönüşü</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(İTÜ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Maçka</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Kampüsü</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karşısı</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Mete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Kavşak</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Taşkışla</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girişi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Taksim</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Tünel</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girişi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TRT Hilton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ışıklar</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Vali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Konağı</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Caddesi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Abdi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İpekçi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Caddesi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dönüşleri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Vali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Konağı</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Caddesi’nden</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Mim</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Kemal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Öke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Caddesi'ne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dönüşler</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Mim</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Kemal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Öke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Caddesi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Kadırgalar</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Caddesi</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kesişiminin</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trafiğe</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kapalı</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olacağı</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aktarıldı</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pPr>
            <a:endParaRPr lang="en-US" sz="1600" dirty="0"/>
          </a:p>
        </p:txBody>
      </p:sp>
      <p:graphicFrame>
        <p:nvGraphicFramePr>
          <p:cNvPr id="4" name="Table 3">
            <a:extLst>
              <a:ext uri="{FF2B5EF4-FFF2-40B4-BE49-F238E27FC236}">
                <a16:creationId xmlns:a16="http://schemas.microsoft.com/office/drawing/2014/main" id="{905D1A8E-EAC5-4F5B-B749-4F3CE46BDFCB}"/>
              </a:ext>
            </a:extLst>
          </p:cNvPr>
          <p:cNvGraphicFramePr>
            <a:graphicFrameLocks noGrp="1"/>
          </p:cNvGraphicFramePr>
          <p:nvPr>
            <p:extLst>
              <p:ext uri="{D42A27DB-BD31-4B8C-83A1-F6EECF244321}">
                <p14:modId xmlns:p14="http://schemas.microsoft.com/office/powerpoint/2010/main" val="3382196720"/>
              </p:ext>
            </p:extLst>
          </p:nvPr>
        </p:nvGraphicFramePr>
        <p:xfrm>
          <a:off x="5702096" y="881265"/>
          <a:ext cx="5644294" cy="5273196"/>
        </p:xfrm>
        <a:graphic>
          <a:graphicData uri="http://schemas.openxmlformats.org/drawingml/2006/table">
            <a:tbl>
              <a:tblPr firstRow="1" bandRow="1">
                <a:tableStyleId>{5C22544A-7EE6-4342-B048-85BDC9FD1C3A}</a:tableStyleId>
              </a:tblPr>
              <a:tblGrid>
                <a:gridCol w="946041">
                  <a:extLst>
                    <a:ext uri="{9D8B030D-6E8A-4147-A177-3AD203B41FA5}">
                      <a16:colId xmlns:a16="http://schemas.microsoft.com/office/drawing/2014/main" val="2336230763"/>
                    </a:ext>
                  </a:extLst>
                </a:gridCol>
                <a:gridCol w="1721150">
                  <a:extLst>
                    <a:ext uri="{9D8B030D-6E8A-4147-A177-3AD203B41FA5}">
                      <a16:colId xmlns:a16="http://schemas.microsoft.com/office/drawing/2014/main" val="1789650086"/>
                    </a:ext>
                  </a:extLst>
                </a:gridCol>
                <a:gridCol w="1664860">
                  <a:extLst>
                    <a:ext uri="{9D8B030D-6E8A-4147-A177-3AD203B41FA5}">
                      <a16:colId xmlns:a16="http://schemas.microsoft.com/office/drawing/2014/main" val="466858627"/>
                    </a:ext>
                  </a:extLst>
                </a:gridCol>
                <a:gridCol w="1312243">
                  <a:extLst>
                    <a:ext uri="{9D8B030D-6E8A-4147-A177-3AD203B41FA5}">
                      <a16:colId xmlns:a16="http://schemas.microsoft.com/office/drawing/2014/main" val="2924501165"/>
                    </a:ext>
                  </a:extLst>
                </a:gridCol>
              </a:tblGrid>
              <a:tr h="310188">
                <a:tc>
                  <a:txBody>
                    <a:bodyPr/>
                    <a:lstStyle/>
                    <a:p>
                      <a:pPr algn="ctr">
                        <a:lnSpc>
                          <a:spcPct val="107000"/>
                        </a:lnSpc>
                        <a:spcBef>
                          <a:spcPts val="300"/>
                        </a:spcBef>
                        <a:spcAft>
                          <a:spcPts val="300"/>
                        </a:spcAft>
                      </a:pPr>
                      <a:r>
                        <a:rPr lang="en-US" sz="1400">
                          <a:effectLst/>
                        </a:rPr>
                        <a: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ctr"/>
                </a:tc>
                <a:tc>
                  <a:txBody>
                    <a:bodyPr/>
                    <a:lstStyle/>
                    <a:p>
                      <a:pPr algn="ctr">
                        <a:lnSpc>
                          <a:spcPct val="107000"/>
                        </a:lnSpc>
                        <a:spcBef>
                          <a:spcPts val="300"/>
                        </a:spcBef>
                        <a:spcAft>
                          <a:spcPts val="300"/>
                        </a:spcAft>
                      </a:pPr>
                      <a:r>
                        <a:rPr lang="en-US" sz="1600">
                          <a:effectLst/>
                        </a:rPr>
                        <a:t>Date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ctr"/>
                </a:tc>
                <a:tc>
                  <a:txBody>
                    <a:bodyPr/>
                    <a:lstStyle/>
                    <a:p>
                      <a:pPr algn="ctr">
                        <a:lnSpc>
                          <a:spcPct val="107000"/>
                        </a:lnSpc>
                        <a:spcBef>
                          <a:spcPts val="300"/>
                        </a:spcBef>
                        <a:spcAft>
                          <a:spcPts val="300"/>
                        </a:spcAft>
                      </a:pPr>
                      <a:r>
                        <a:rPr lang="en-US" sz="1600">
                          <a:effectLst/>
                        </a:rPr>
                        <a:t>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ctr"/>
                </a:tc>
                <a:tc>
                  <a:txBody>
                    <a:bodyPr/>
                    <a:lstStyle/>
                    <a:p>
                      <a:pPr algn="ctr">
                        <a:lnSpc>
                          <a:spcPct val="107000"/>
                        </a:lnSpc>
                        <a:spcBef>
                          <a:spcPts val="300"/>
                        </a:spcBef>
                        <a:spcAft>
                          <a:spcPts val="300"/>
                        </a:spcAft>
                      </a:pPr>
                      <a:r>
                        <a:rPr lang="en-US" sz="1600">
                          <a:effectLst/>
                        </a:rPr>
                        <a:t>Duration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ctr"/>
                </a:tc>
                <a:extLst>
                  <a:ext uri="{0D108BD9-81ED-4DB2-BD59-A6C34878D82A}">
                    <a16:rowId xmlns:a16="http://schemas.microsoft.com/office/drawing/2014/main" val="1896131914"/>
                  </a:ext>
                </a:extLst>
              </a:tr>
              <a:tr h="310188">
                <a:tc>
                  <a:txBody>
                    <a:bodyPr/>
                    <a:lstStyle/>
                    <a:p>
                      <a:pPr algn="ctr">
                        <a:lnSpc>
                          <a:spcPct val="107000"/>
                        </a:lnSpc>
                        <a:spcBef>
                          <a:spcPts val="300"/>
                        </a:spcBef>
                        <a:spcAft>
                          <a:spcPts val="300"/>
                        </a:spcAft>
                      </a:pPr>
                      <a:r>
                        <a:rPr lang="en-US" sz="1600">
                          <a:effectLst/>
                        </a:rPr>
                        <a:t>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16-Nov-17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Thursday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64.83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426936484"/>
                  </a:ext>
                </a:extLst>
              </a:tr>
              <a:tr h="310188">
                <a:tc>
                  <a:txBody>
                    <a:bodyPr/>
                    <a:lstStyle/>
                    <a:p>
                      <a:pPr algn="ctr">
                        <a:lnSpc>
                          <a:spcPct val="107000"/>
                        </a:lnSpc>
                        <a:spcBef>
                          <a:spcPts val="300"/>
                        </a:spcBef>
                        <a:spcAft>
                          <a:spcPts val="300"/>
                        </a:spcAft>
                      </a:pPr>
                      <a:r>
                        <a:rPr lang="en-US" sz="16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dirty="0">
                          <a:effectLst/>
                        </a:rPr>
                        <a:t>20-Nov-17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Monday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61.35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2283154697"/>
                  </a:ext>
                </a:extLst>
              </a:tr>
              <a:tr h="310188">
                <a:tc>
                  <a:txBody>
                    <a:bodyPr/>
                    <a:lstStyle/>
                    <a:p>
                      <a:pPr algn="ctr">
                        <a:lnSpc>
                          <a:spcPct val="107000"/>
                        </a:lnSpc>
                        <a:spcBef>
                          <a:spcPts val="300"/>
                        </a:spcBef>
                        <a:spcAft>
                          <a:spcPts val="300"/>
                        </a:spcAft>
                      </a:pPr>
                      <a:r>
                        <a:rPr lang="en-US" sz="1600">
                          <a:effectLst/>
                        </a:rPr>
                        <a:t>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22-Nov-17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Wednesday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56.75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4277586619"/>
                  </a:ext>
                </a:extLst>
              </a:tr>
              <a:tr h="310188">
                <a:tc>
                  <a:txBody>
                    <a:bodyPr/>
                    <a:lstStyle/>
                    <a:p>
                      <a:pPr algn="ctr">
                        <a:lnSpc>
                          <a:spcPct val="107000"/>
                        </a:lnSpc>
                        <a:spcBef>
                          <a:spcPts val="300"/>
                        </a:spcBef>
                        <a:spcAft>
                          <a:spcPts val="300"/>
                        </a:spcAft>
                      </a:pPr>
                      <a:r>
                        <a:rPr lang="en-US" sz="1600">
                          <a:effectLst/>
                        </a:rPr>
                        <a:t>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23-Nov-17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Thursday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59.44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3615320595"/>
                  </a:ext>
                </a:extLst>
              </a:tr>
              <a:tr h="310188">
                <a:tc>
                  <a:txBody>
                    <a:bodyPr/>
                    <a:lstStyle/>
                    <a:p>
                      <a:pPr algn="ctr">
                        <a:lnSpc>
                          <a:spcPct val="107000"/>
                        </a:lnSpc>
                        <a:spcBef>
                          <a:spcPts val="300"/>
                        </a:spcBef>
                        <a:spcAft>
                          <a:spcPts val="300"/>
                        </a:spcAft>
                      </a:pPr>
                      <a:r>
                        <a:rPr lang="en-US" sz="1600">
                          <a:effectLst/>
                        </a:rPr>
                        <a:t>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24-Nov-17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Friday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44.77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2792374391"/>
                  </a:ext>
                </a:extLst>
              </a:tr>
              <a:tr h="310188">
                <a:tc>
                  <a:txBody>
                    <a:bodyPr/>
                    <a:lstStyle/>
                    <a:p>
                      <a:pPr algn="ctr">
                        <a:lnSpc>
                          <a:spcPct val="107000"/>
                        </a:lnSpc>
                        <a:spcBef>
                          <a:spcPts val="300"/>
                        </a:spcBef>
                        <a:spcAft>
                          <a:spcPts val="300"/>
                        </a:spcAft>
                      </a:pPr>
                      <a:r>
                        <a:rPr lang="en-US" sz="1600">
                          <a:effectLst/>
                        </a:rPr>
                        <a:t>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27-Nov-17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Monday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78.41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1253319119"/>
                  </a:ext>
                </a:extLst>
              </a:tr>
              <a:tr h="310188">
                <a:tc>
                  <a:txBody>
                    <a:bodyPr/>
                    <a:lstStyle/>
                    <a:p>
                      <a:pPr algn="ctr">
                        <a:lnSpc>
                          <a:spcPct val="107000"/>
                        </a:lnSpc>
                        <a:spcBef>
                          <a:spcPts val="300"/>
                        </a:spcBef>
                        <a:spcAft>
                          <a:spcPts val="300"/>
                        </a:spcAft>
                      </a:pPr>
                      <a:r>
                        <a:rPr lang="en-US" sz="1600">
                          <a:effectLst/>
                        </a:rPr>
                        <a:t>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28-Nov-17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Tuesday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54.54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1796539650"/>
                  </a:ext>
                </a:extLst>
              </a:tr>
              <a:tr h="310188">
                <a:tc>
                  <a:txBody>
                    <a:bodyPr/>
                    <a:lstStyle/>
                    <a:p>
                      <a:pPr algn="ctr">
                        <a:lnSpc>
                          <a:spcPct val="107000"/>
                        </a:lnSpc>
                        <a:spcBef>
                          <a:spcPts val="300"/>
                        </a:spcBef>
                        <a:spcAft>
                          <a:spcPts val="300"/>
                        </a:spcAft>
                      </a:pPr>
                      <a:r>
                        <a:rPr lang="en-US" sz="1600">
                          <a:effectLst/>
                        </a:rPr>
                        <a:t>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29-Nov-17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Wednesday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63.02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3052275074"/>
                  </a:ext>
                </a:extLst>
              </a:tr>
              <a:tr h="310188">
                <a:tc>
                  <a:txBody>
                    <a:bodyPr/>
                    <a:lstStyle/>
                    <a:p>
                      <a:pPr algn="ctr">
                        <a:lnSpc>
                          <a:spcPct val="107000"/>
                        </a:lnSpc>
                        <a:spcBef>
                          <a:spcPts val="300"/>
                        </a:spcBef>
                        <a:spcAft>
                          <a:spcPts val="300"/>
                        </a:spcAft>
                      </a:pPr>
                      <a:r>
                        <a:rPr lang="en-US" sz="1600">
                          <a:effectLst/>
                        </a:rPr>
                        <a:t>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4-Dec-17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Monday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61.43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4030817912"/>
                  </a:ext>
                </a:extLst>
              </a:tr>
              <a:tr h="310188">
                <a:tc>
                  <a:txBody>
                    <a:bodyPr/>
                    <a:lstStyle/>
                    <a:p>
                      <a:pPr algn="ctr">
                        <a:lnSpc>
                          <a:spcPct val="107000"/>
                        </a:lnSpc>
                        <a:spcBef>
                          <a:spcPts val="300"/>
                        </a:spcBef>
                        <a:spcAft>
                          <a:spcPts val="300"/>
                        </a:spcAft>
                      </a:pPr>
                      <a:r>
                        <a:rPr lang="en-US" sz="1600">
                          <a:effectLst/>
                        </a:rPr>
                        <a:t>10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6-Dec-17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Wednesday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49.66</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384351907"/>
                  </a:ext>
                </a:extLst>
              </a:tr>
              <a:tr h="310188">
                <a:tc>
                  <a:txBody>
                    <a:bodyPr/>
                    <a:lstStyle/>
                    <a:p>
                      <a:pPr algn="ctr">
                        <a:lnSpc>
                          <a:spcPct val="107000"/>
                        </a:lnSpc>
                        <a:spcBef>
                          <a:spcPts val="300"/>
                        </a:spcBef>
                        <a:spcAft>
                          <a:spcPts val="300"/>
                        </a:spcAft>
                      </a:pPr>
                      <a:r>
                        <a:rPr lang="en-US" sz="1600">
                          <a:effectLst/>
                        </a:rPr>
                        <a:t>11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10-Dec-17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Sunday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24.65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3010205179"/>
                  </a:ext>
                </a:extLst>
              </a:tr>
              <a:tr h="310188">
                <a:tc>
                  <a:txBody>
                    <a:bodyPr/>
                    <a:lstStyle/>
                    <a:p>
                      <a:pPr algn="ctr">
                        <a:lnSpc>
                          <a:spcPct val="107000"/>
                        </a:lnSpc>
                        <a:spcBef>
                          <a:spcPts val="300"/>
                        </a:spcBef>
                        <a:spcAft>
                          <a:spcPts val="300"/>
                        </a:spcAft>
                      </a:pPr>
                      <a:r>
                        <a:rPr lang="en-US" sz="1600">
                          <a:effectLst/>
                        </a:rPr>
                        <a:t>12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11-Dec-17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Monday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46.98</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2168689186"/>
                  </a:ext>
                </a:extLst>
              </a:tr>
              <a:tr h="310188">
                <a:tc>
                  <a:txBody>
                    <a:bodyPr/>
                    <a:lstStyle/>
                    <a:p>
                      <a:pPr algn="ctr">
                        <a:lnSpc>
                          <a:spcPct val="107000"/>
                        </a:lnSpc>
                        <a:spcBef>
                          <a:spcPts val="300"/>
                        </a:spcBef>
                        <a:spcAft>
                          <a:spcPts val="300"/>
                        </a:spcAft>
                      </a:pPr>
                      <a:r>
                        <a:rPr lang="en-US" sz="1600">
                          <a:effectLst/>
                        </a:rPr>
                        <a:t>13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14-Dec-17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Thursday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98.41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3129726270"/>
                  </a:ext>
                </a:extLst>
              </a:tr>
              <a:tr h="310188">
                <a:tc>
                  <a:txBody>
                    <a:bodyPr/>
                    <a:lstStyle/>
                    <a:p>
                      <a:pPr algn="ctr">
                        <a:lnSpc>
                          <a:spcPct val="107000"/>
                        </a:lnSpc>
                        <a:spcBef>
                          <a:spcPts val="300"/>
                        </a:spcBef>
                        <a:spcAft>
                          <a:spcPts val="300"/>
                        </a:spcAft>
                      </a:pPr>
                      <a:r>
                        <a:rPr lang="en-US" sz="1600">
                          <a:effectLst/>
                        </a:rPr>
                        <a:t>14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18-Dec-17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Monday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1.36</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74778192"/>
                  </a:ext>
                </a:extLst>
              </a:tr>
              <a:tr h="310188">
                <a:tc>
                  <a:txBody>
                    <a:bodyPr/>
                    <a:lstStyle/>
                    <a:p>
                      <a:pPr algn="ctr">
                        <a:lnSpc>
                          <a:spcPct val="107000"/>
                        </a:lnSpc>
                        <a:spcBef>
                          <a:spcPts val="300"/>
                        </a:spcBef>
                        <a:spcAft>
                          <a:spcPts val="300"/>
                        </a:spcAft>
                      </a:pPr>
                      <a:r>
                        <a:rPr lang="en-US" sz="1600">
                          <a:effectLst/>
                        </a:rPr>
                        <a:t>15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21-Dec-17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Thursday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51.43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2769892570"/>
                  </a:ext>
                </a:extLst>
              </a:tr>
              <a:tr h="310188">
                <a:tc>
                  <a:txBody>
                    <a:bodyPr/>
                    <a:lstStyle/>
                    <a:p>
                      <a:pPr algn="ctr">
                        <a:lnSpc>
                          <a:spcPct val="107000"/>
                        </a:lnSpc>
                        <a:spcBef>
                          <a:spcPts val="300"/>
                        </a:spcBef>
                        <a:spcAft>
                          <a:spcPts val="300"/>
                        </a:spcAft>
                      </a:pPr>
                      <a:r>
                        <a:rPr lang="en-US" sz="1600">
                          <a:effectLst/>
                        </a:rPr>
                        <a:t>16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nchor="b"/>
                </a:tc>
                <a:tc>
                  <a:txBody>
                    <a:bodyPr/>
                    <a:lstStyle/>
                    <a:p>
                      <a:pPr algn="ctr">
                        <a:lnSpc>
                          <a:spcPct val="107000"/>
                        </a:lnSpc>
                        <a:spcAft>
                          <a:spcPts val="0"/>
                        </a:spcAft>
                      </a:pPr>
                      <a:r>
                        <a:rPr lang="en-US" sz="1600">
                          <a:effectLst/>
                        </a:rPr>
                        <a:t>22-Dec-17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a:effectLst/>
                        </a:rPr>
                        <a:t>Friday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tc>
                  <a:txBody>
                    <a:bodyPr/>
                    <a:lstStyle/>
                    <a:p>
                      <a:pPr algn="ctr">
                        <a:lnSpc>
                          <a:spcPct val="107000"/>
                        </a:lnSpc>
                        <a:spcAft>
                          <a:spcPts val="0"/>
                        </a:spcAft>
                      </a:pPr>
                      <a:r>
                        <a:rPr lang="en-US" sz="1600" dirty="0">
                          <a:effectLst/>
                        </a:rPr>
                        <a:t>54.04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649" marR="13649" marT="13649" marB="0"/>
                </a:tc>
                <a:extLst>
                  <a:ext uri="{0D108BD9-81ED-4DB2-BD59-A6C34878D82A}">
                    <a16:rowId xmlns:a16="http://schemas.microsoft.com/office/drawing/2014/main" val="570912162"/>
                  </a:ext>
                </a:extLst>
              </a:tr>
            </a:tbl>
          </a:graphicData>
        </a:graphic>
      </p:graphicFrame>
    </p:spTree>
    <p:extLst>
      <p:ext uri="{BB962C8B-B14F-4D97-AF65-F5344CB8AC3E}">
        <p14:creationId xmlns:p14="http://schemas.microsoft.com/office/powerpoint/2010/main" val="2692633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81122-318A-4D63-BF51-C51A5A992733}"/>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02963E98-6888-4814-8E12-E82918BBB7F0}"/>
              </a:ext>
            </a:extLst>
          </p:cNvPr>
          <p:cNvSpPr>
            <a:spLocks noGrp="1"/>
          </p:cNvSpPr>
          <p:nvPr>
            <p:ph idx="1"/>
          </p:nvPr>
        </p:nvSpPr>
        <p:spPr>
          <a:xfrm>
            <a:off x="468071" y="1890876"/>
            <a:ext cx="11029615" cy="4689033"/>
          </a:xfrm>
        </p:spPr>
        <p:txBody>
          <a:bodyPr>
            <a:noAutofit/>
          </a:bodyPr>
          <a:lstStyle/>
          <a:p>
            <a:r>
              <a:rPr lang="en-US" sz="2000" dirty="0"/>
              <a:t>Produce the descriptive statistics (sample mean, sample standard deviation, all quartiles and skewness), histogram and box plot of the data. </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pic>
        <p:nvPicPr>
          <p:cNvPr id="6" name="Picture 5">
            <a:extLst>
              <a:ext uri="{FF2B5EF4-FFF2-40B4-BE49-F238E27FC236}">
                <a16:creationId xmlns:a16="http://schemas.microsoft.com/office/drawing/2014/main" id="{0B1A19E6-07E6-4423-BD43-88B31A5382DE}"/>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083012" y="4058453"/>
            <a:ext cx="3581400" cy="26479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a:extLst>
              <a:ext uri="{FF2B5EF4-FFF2-40B4-BE49-F238E27FC236}">
                <a16:creationId xmlns:a16="http://schemas.microsoft.com/office/drawing/2014/main" id="{9961B626-E47C-4DC5-8404-4A95AC02292B}"/>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838436" y="4208947"/>
            <a:ext cx="3571875" cy="2362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0514C03-177F-4B88-9611-141D565FFF19}"/>
              </a:ext>
            </a:extLst>
          </p:cNvPr>
          <p:cNvSpPr txBox="1"/>
          <p:nvPr/>
        </p:nvSpPr>
        <p:spPr>
          <a:xfrm>
            <a:off x="1414544" y="3105834"/>
            <a:ext cx="6258875" cy="646331"/>
          </a:xfrm>
          <a:prstGeom prst="rect">
            <a:avLst/>
          </a:prstGeom>
          <a:noFill/>
          <a:ln>
            <a:solidFill>
              <a:schemeClr val="tx1"/>
            </a:solidFill>
          </a:ln>
        </p:spPr>
        <p:txBody>
          <a:bodyPr wrap="square">
            <a:spAutoFit/>
          </a:bodyPr>
          <a:lstStyle/>
          <a:p>
            <a:pPr>
              <a:spcAft>
                <a:spcPts val="0"/>
              </a:spcAft>
            </a:pPr>
            <a:r>
              <a:rPr lang="en-US" sz="1800" dirty="0">
                <a:effectLst/>
                <a:latin typeface="Courier New" panose="02070309020205020404" pitchFamily="49" charset="0"/>
                <a:ea typeface="Times New Roman" panose="02020603050405020304" pitchFamily="18" charset="0"/>
              </a:rPr>
              <a:t>Mean   </a:t>
            </a:r>
            <a:r>
              <a:rPr lang="en-US" sz="1800" dirty="0" err="1">
                <a:effectLst/>
                <a:latin typeface="Courier New" panose="02070309020205020404" pitchFamily="49" charset="0"/>
                <a:ea typeface="Times New Roman" panose="02020603050405020304" pitchFamily="18" charset="0"/>
              </a:rPr>
              <a:t>StDev</a:t>
            </a:r>
            <a:r>
              <a:rPr lang="en-US" sz="1800" dirty="0">
                <a:effectLst/>
                <a:latin typeface="Courier New" panose="02070309020205020404" pitchFamily="49" charset="0"/>
                <a:ea typeface="Times New Roman" panose="02020603050405020304" pitchFamily="18" charset="0"/>
              </a:rPr>
              <a:t>     Q1  Median     Q3  Skewness</a:t>
            </a:r>
            <a:endParaRPr lang="en-US" sz="3200" dirty="0">
              <a:effectLst/>
              <a:latin typeface="Times New Roman" panose="02020603050405020304" pitchFamily="18" charset="0"/>
              <a:ea typeface="Times New Roman" panose="02020603050405020304" pitchFamily="18" charset="0"/>
            </a:endParaRPr>
          </a:p>
          <a:p>
            <a:pPr>
              <a:spcAft>
                <a:spcPts val="0"/>
              </a:spcAft>
            </a:pPr>
            <a:r>
              <a:rPr lang="en-US" sz="1800" dirty="0">
                <a:effectLst/>
                <a:latin typeface="Courier New" panose="02070309020205020404" pitchFamily="49" charset="0"/>
                <a:ea typeface="Times New Roman" panose="02020603050405020304" pitchFamily="18" charset="0"/>
              </a:rPr>
              <a:t>54,44  20,47  48,98   55,64  61,83     -0,61</a:t>
            </a:r>
            <a:endParaRPr lang="en-U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2613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81122-318A-4D63-BF51-C51A5A992733}"/>
              </a:ext>
            </a:extLst>
          </p:cNvPr>
          <p:cNvSpPr>
            <a:spLocks noGrp="1"/>
          </p:cNvSpPr>
          <p:nvPr>
            <p:ph type="title"/>
          </p:nvPr>
        </p:nvSpPr>
        <p:spPr>
          <a:xfrm>
            <a:off x="581192" y="702156"/>
            <a:ext cx="11029616" cy="720244"/>
          </a:xfrm>
        </p:spPr>
        <p:txBody>
          <a:bodyPr/>
          <a:lstStyle/>
          <a:p>
            <a:r>
              <a:rPr lang="en-US" dirty="0"/>
              <a:t>questions</a:t>
            </a:r>
          </a:p>
        </p:txBody>
      </p:sp>
      <p:sp>
        <p:nvSpPr>
          <p:cNvPr id="3" name="Content Placeholder 2">
            <a:extLst>
              <a:ext uri="{FF2B5EF4-FFF2-40B4-BE49-F238E27FC236}">
                <a16:creationId xmlns:a16="http://schemas.microsoft.com/office/drawing/2014/main" id="{02963E98-6888-4814-8E12-E82918BBB7F0}"/>
              </a:ext>
            </a:extLst>
          </p:cNvPr>
          <p:cNvSpPr>
            <a:spLocks noGrp="1"/>
          </p:cNvSpPr>
          <p:nvPr>
            <p:ph idx="1"/>
          </p:nvPr>
        </p:nvSpPr>
        <p:spPr>
          <a:xfrm>
            <a:off x="468071" y="833120"/>
            <a:ext cx="11029615" cy="5401349"/>
          </a:xfrm>
        </p:spPr>
        <p:txBody>
          <a:bodyPr>
            <a:noAutofit/>
          </a:bodyPr>
          <a:lstStyle/>
          <a:p>
            <a:r>
              <a:rPr lang="en-US" sz="1800" dirty="0"/>
              <a:t>Are there any outliers in the data? If yes, which of them are outliers? Do you think you should include these outliers in your analysis or not? Give explicit reasons for including or excluding. If you decide to exclude the outliers, produce the descriptive statistics and plots in part a) with the data without outliers. Specify the differences in the stats and plots between with and without outliers.</a:t>
            </a:r>
          </a:p>
          <a:p>
            <a:endParaRPr lang="en-US" sz="1800" dirty="0"/>
          </a:p>
          <a:p>
            <a:endParaRPr lang="en-US" sz="1800" dirty="0"/>
          </a:p>
          <a:p>
            <a:endParaRPr lang="en-US" sz="1800" dirty="0"/>
          </a:p>
          <a:p>
            <a:endParaRPr lang="en-US" sz="1800" dirty="0"/>
          </a:p>
          <a:p>
            <a:endParaRPr lang="en-US" sz="1800" dirty="0"/>
          </a:p>
          <a:p>
            <a:endParaRPr lang="en-US" sz="1800" dirty="0"/>
          </a:p>
        </p:txBody>
      </p:sp>
      <p:pic>
        <p:nvPicPr>
          <p:cNvPr id="6" name="Picture 2">
            <a:extLst>
              <a:ext uri="{FF2B5EF4-FFF2-40B4-BE49-F238E27FC236}">
                <a16:creationId xmlns:a16="http://schemas.microsoft.com/office/drawing/2014/main" id="{409C68E1-FCAC-4505-8EDC-F1DC7D8E1186}"/>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345963" y="4018666"/>
            <a:ext cx="3724275" cy="264795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a:extLst>
              <a:ext uri="{FF2B5EF4-FFF2-40B4-BE49-F238E27FC236}">
                <a16:creationId xmlns:a16="http://schemas.microsoft.com/office/drawing/2014/main" id="{78E30AFA-8EA5-47EE-A057-1C97207789C9}"/>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531362" y="4142491"/>
            <a:ext cx="3505200" cy="24003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6E4B8AD-62DD-41EE-B5DF-8207E6274F94}"/>
              </a:ext>
            </a:extLst>
          </p:cNvPr>
          <p:cNvSpPr txBox="1"/>
          <p:nvPr/>
        </p:nvSpPr>
        <p:spPr>
          <a:xfrm>
            <a:off x="2402682" y="3107513"/>
            <a:ext cx="6258875" cy="646331"/>
          </a:xfrm>
          <a:prstGeom prst="rect">
            <a:avLst/>
          </a:prstGeom>
          <a:noFill/>
          <a:ln>
            <a:solidFill>
              <a:schemeClr val="tx1"/>
            </a:solidFill>
          </a:ln>
        </p:spPr>
        <p:txBody>
          <a:bodyPr wrap="square">
            <a:spAutoFit/>
          </a:bodyPr>
          <a:lstStyle/>
          <a:p>
            <a:pPr>
              <a:spcAft>
                <a:spcPts val="0"/>
              </a:spcAft>
            </a:pPr>
            <a:r>
              <a:rPr lang="en-US" sz="1800" dirty="0">
                <a:effectLst/>
                <a:latin typeface="Courier New" panose="02070309020205020404" pitchFamily="49" charset="0"/>
                <a:ea typeface="Times New Roman" panose="02020603050405020304" pitchFamily="18" charset="0"/>
              </a:rPr>
              <a:t>Mean   </a:t>
            </a:r>
            <a:r>
              <a:rPr lang="en-US" sz="1800" dirty="0" err="1">
                <a:effectLst/>
                <a:latin typeface="Courier New" panose="02070309020205020404" pitchFamily="49" charset="0"/>
                <a:ea typeface="Times New Roman" panose="02020603050405020304" pitchFamily="18" charset="0"/>
              </a:rPr>
              <a:t>StDev</a:t>
            </a:r>
            <a:r>
              <a:rPr lang="en-US" sz="1800" dirty="0">
                <a:effectLst/>
                <a:latin typeface="Courier New" panose="02070309020205020404" pitchFamily="49" charset="0"/>
                <a:ea typeface="Times New Roman" panose="02020603050405020304" pitchFamily="18" charset="0"/>
              </a:rPr>
              <a:t>     Q1  Median     Q3  Skewness</a:t>
            </a:r>
            <a:endParaRPr lang="en-US" sz="3200" dirty="0">
              <a:effectLst/>
              <a:latin typeface="Times New Roman" panose="02020603050405020304" pitchFamily="18" charset="0"/>
              <a:ea typeface="Times New Roman" panose="02020603050405020304" pitchFamily="18" charset="0"/>
            </a:endParaRPr>
          </a:p>
          <a:p>
            <a:pPr>
              <a:spcAft>
                <a:spcPts val="0"/>
              </a:spcAft>
            </a:pPr>
            <a:r>
              <a:rPr lang="en-US" sz="1800" dirty="0">
                <a:effectLst/>
                <a:latin typeface="Courier New" panose="02070309020205020404" pitchFamily="49" charset="0"/>
                <a:ea typeface="Times New Roman" panose="02020603050405020304" pitchFamily="18" charset="0"/>
              </a:rPr>
              <a:t>57,43   8,54  51,43   56,75  61,43     </a:t>
            </a:r>
            <a:r>
              <a:rPr lang="en-US" dirty="0">
                <a:latin typeface="Courier New" panose="02070309020205020404" pitchFamily="49" charset="0"/>
                <a:ea typeface="Times New Roman" panose="02020603050405020304" pitchFamily="18" charset="0"/>
              </a:rPr>
              <a:t> </a:t>
            </a:r>
            <a:r>
              <a:rPr lang="en-US" sz="1800" dirty="0">
                <a:effectLst/>
                <a:latin typeface="Courier New" panose="02070309020205020404" pitchFamily="49" charset="0"/>
                <a:ea typeface="Times New Roman" panose="02020603050405020304" pitchFamily="18" charset="0"/>
              </a:rPr>
              <a:t>0,84</a:t>
            </a:r>
            <a:endParaRPr lang="en-U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3003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81122-318A-4D63-BF51-C51A5A992733}"/>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02963E98-6888-4814-8E12-E82918BBB7F0}"/>
              </a:ext>
            </a:extLst>
          </p:cNvPr>
          <p:cNvSpPr>
            <a:spLocks noGrp="1"/>
          </p:cNvSpPr>
          <p:nvPr>
            <p:ph idx="1"/>
          </p:nvPr>
        </p:nvSpPr>
        <p:spPr>
          <a:xfrm>
            <a:off x="468071" y="2177592"/>
            <a:ext cx="11029615" cy="4402317"/>
          </a:xfrm>
        </p:spPr>
        <p:txBody>
          <a:bodyPr>
            <a:noAutofit/>
          </a:bodyPr>
          <a:lstStyle/>
          <a:p>
            <a:r>
              <a:rPr lang="en-US" sz="2000" dirty="0"/>
              <a:t>Specify the population that the sample aims to characterize. Do you believe that all the observations constitute a random sample from this population? Why or why not? Will your belief change if the outliers are excluded? In other words, do you believe that the data set without outliers constitute a random sample from this population? Why or why not? Explain your reasons clearly. </a:t>
            </a:r>
          </a:p>
          <a:p>
            <a:endParaRPr lang="en-US" sz="2000" dirty="0"/>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121952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81122-318A-4D63-BF51-C51A5A992733}"/>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02963E98-6888-4814-8E12-E82918BBB7F0}"/>
              </a:ext>
            </a:extLst>
          </p:cNvPr>
          <p:cNvSpPr>
            <a:spLocks noGrp="1"/>
          </p:cNvSpPr>
          <p:nvPr>
            <p:ph idx="1"/>
          </p:nvPr>
        </p:nvSpPr>
        <p:spPr>
          <a:xfrm>
            <a:off x="468071" y="2177592"/>
            <a:ext cx="11029615" cy="4402317"/>
          </a:xfrm>
        </p:spPr>
        <p:txBody>
          <a:bodyPr>
            <a:noAutofit/>
          </a:bodyPr>
          <a:lstStyle/>
          <a:p>
            <a:r>
              <a:rPr lang="en-US" sz="2000" dirty="0"/>
              <a:t>What can you say about the duration of the travel times? What would be your best guess for the average duration? How about for the standard deviation of the durations? In other words, can you estimate its average or standard deviation? If yes, how? Would you move to </a:t>
            </a:r>
            <a:r>
              <a:rPr lang="en-US" sz="2000" dirty="0" err="1"/>
              <a:t>Maslak</a:t>
            </a:r>
            <a:r>
              <a:rPr lang="en-US" sz="2000" dirty="0"/>
              <a:t> or stay with your friend in </a:t>
            </a:r>
            <a:r>
              <a:rPr lang="en-US" sz="2000" dirty="0" err="1"/>
              <a:t>Teşvikiye</a:t>
            </a:r>
            <a:r>
              <a:rPr lang="en-US" sz="2000" dirty="0"/>
              <a:t>? Why or why not? Explain. </a:t>
            </a:r>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3301220059"/>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690</Words>
  <Application>Microsoft Macintosh PowerPoint</Application>
  <PresentationFormat>Widescreen</PresentationFormat>
  <Paragraphs>109</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Calibri</vt:lpstr>
      <vt:lpstr>Courier New</vt:lpstr>
      <vt:lpstr>Franklin Gothic Book</vt:lpstr>
      <vt:lpstr>Franklin Gothic Demi</vt:lpstr>
      <vt:lpstr>Times New Roman</vt:lpstr>
      <vt:lpstr>Trebuchet MS</vt:lpstr>
      <vt:lpstr>Wingdings</vt:lpstr>
      <vt:lpstr>Wingdings 2</vt:lpstr>
      <vt:lpstr>DividendVTI</vt:lpstr>
      <vt:lpstr>Indr252 – lab 3</vt:lpstr>
      <vt:lpstr>Before we start</vt:lpstr>
      <vt:lpstr>story</vt:lpstr>
      <vt:lpstr>Data &amp; more info</vt:lpstr>
      <vt:lpstr>questions</vt:lpstr>
      <vt:lpstr>questions</vt:lpstr>
      <vt:lpstr>questions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2021-03-04T19:32:08Z</dcterms:created>
  <dcterms:modified xsi:type="dcterms:W3CDTF">2025-10-20T17:28:00Z</dcterms:modified>
</cp:coreProperties>
</file>